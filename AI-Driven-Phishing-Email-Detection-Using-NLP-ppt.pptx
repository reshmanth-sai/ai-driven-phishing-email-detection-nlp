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Crimson Pro Bold" panose="020B0604020202020204" charset="0"/>
      <p:regular r:id="rId17"/>
    </p:embeddedFont>
    <p:embeddedFont>
      <p:font typeface="Open Sans" panose="020F0502020204030204" pitchFamily="34" charset="0"/>
      <p:regular r:id="rId18"/>
    </p:embeddedFont>
    <p:embeddedFont>
      <p:font typeface="Open Sans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533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hishing-email-detector-gqhhxgv23ishqvvsv9hitv.streamlit.app/" TargetMode="External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hyperlink" Target="https://github.com/srinivasanshruthi07-afk/phishing-email-detector" TargetMode="Externa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98546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AI-Driven Phishing Email Detection Using NLP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450233"/>
            <a:ext cx="6296860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End-to-End Machine Learning Pipeline: Data Preprocessing, Feature Engineering, Comparative Analysis, and Deployment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Shruthi Srinivasan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Indian Institute of Computing and Technology (IICT)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68635"/>
            <a:ext cx="6296860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Phishing Problem</a:t>
            </a:r>
            <a:endParaRPr lang="en-US" sz="3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489273"/>
            <a:ext cx="6296860" cy="13584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8549" y="1694755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Cyber Threat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968549" y="2079228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Phishing exploits human trust through social engineering, deceptive language, and malicious URLs — not just technical vulnerabilities.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019326"/>
            <a:ext cx="6296860" cy="135840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8549" y="3224808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Limitations of Traditional Rules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968549" y="3609280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Static blacklists and simple rules are reactive. They frequently miss novel phrasing or unseen domain names.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549378"/>
            <a:ext cx="6296860" cy="16398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8549" y="4754860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NLP Solution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968549" y="5139333"/>
            <a:ext cx="5784308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Natural Language Processing enables machines to analyze message structure, intent, and textual patterns to detect suspicious content </a:t>
            </a:r>
            <a:r>
              <a:rPr lang="en-US" sz="14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proactively</a:t>
            </a: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504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Objectives &amp; Scope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1371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an automated, end-to-end NLP system to classify emails as phishing or legitimate — from raw data to live deployment.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63118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2927052"/>
            <a:ext cx="5339820" cy="2540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61475" y="3072309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 Preparation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3480991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 and preprocess a balanced dataset of 82,073 emails.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190301" y="263118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301" y="2927052"/>
            <a:ext cx="5339919" cy="2540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90301" y="3072309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Feature Engineering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190301" y="3480991"/>
            <a:ext cx="53399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 linguistic (TF-IDF) and structural metadata features.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4114105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1475" y="4409976"/>
            <a:ext cx="5339820" cy="2540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61475" y="4555232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Model Comparison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61475" y="4963914"/>
            <a:ext cx="533982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Train, evaluate, and compare four ML algorithms: Logistic Regression, Naive Bayes, Random Forest, and MLP Neural Network.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190301" y="4114105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90301" y="4409976"/>
            <a:ext cx="5339919" cy="2540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90301" y="4555232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Deployment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190301" y="4963914"/>
            <a:ext cx="53399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 the optimal model as an interactive web application on Streamlit Cloud.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5171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Dataset Overview &amp; Feature Engineering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85950"/>
            <a:ext cx="6913390" cy="38888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13400" y="1544141"/>
            <a:ext cx="352307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Dataset Composition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013400" y="1987153"/>
            <a:ext cx="3523070" cy="1922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82,073 emails</a:t>
            </a: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sourced from Kaggle — 42,840 Phishing vs. 39,233 Legitimate. Text preprocessing included lowercasing, punctuation and HTML stripping, stopword removal, and capping length at 5,000 characters to handle extreme outliers.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013400" y="4075708"/>
            <a:ext cx="352307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Feature Matrix — 5,003 Dimensions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13400" y="4518720"/>
            <a:ext cx="3523070" cy="1705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5,000 TF-IDF Features:</a:t>
            </a: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Capture word importance across the corpus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 Proxy Metadata Features:</a:t>
            </a: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URL token count (http, https, www), urgency word count (urgent, verify, suspended), and word-level text length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0330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System Architecture &amp; Workflow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30697"/>
            <a:ext cx="10868745" cy="48909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8699" y="1374332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Ingestion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298699" y="1751868"/>
            <a:ext cx="1902004" cy="389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Preprocess raw text; cap length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179801" y="5042573"/>
            <a:ext cx="1912454" cy="293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Feature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179801" y="5420109"/>
            <a:ext cx="1912454" cy="389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TF-IDF plus metadata vectors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040002" y="1337754"/>
            <a:ext cx="1902003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Training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040002" y="1715290"/>
            <a:ext cx="1902003" cy="389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80/20 stratified split, 4 models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21104" y="5042573"/>
            <a:ext cx="1902004" cy="293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Evaluation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921104" y="5420109"/>
            <a:ext cx="1902004" cy="389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Accuracy, precision, recall, F1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1475" y="6113264"/>
            <a:ext cx="1147833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pipeline ensures reproducibility through stratified splitting and standardized vectorization, enabling fair comparison across all four model architectures before production deployment.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6359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Comparative Model Results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61475" y="1682452"/>
            <a:ext cx="5221851" cy="4278511"/>
          </a:xfrm>
          <a:prstGeom prst="roundRect">
            <a:avLst>
              <a:gd name="adj" fmla="val 1711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61475" y="2432943"/>
            <a:ext cx="5221851" cy="108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61475" y="3180259"/>
            <a:ext cx="5221851" cy="108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61475" y="4195366"/>
            <a:ext cx="5221851" cy="108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61475" y="5210473"/>
            <a:ext cx="5221851" cy="108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709893" y="1682452"/>
            <a:ext cx="10891" cy="427851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51664" y="1682452"/>
            <a:ext cx="10891" cy="427851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793435" y="1682452"/>
            <a:ext cx="10891" cy="427851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35206" y="1682452"/>
            <a:ext cx="10891" cy="427851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42346" y="1791494"/>
            <a:ext cx="1299733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Model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887292" y="1791494"/>
            <a:ext cx="686973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Accuracy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29063" y="1791494"/>
            <a:ext cx="686973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Precision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970833" y="1791494"/>
            <a:ext cx="1296558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Recall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12604" y="1791494"/>
            <a:ext cx="690148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F1-Score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2346" y="2538809"/>
            <a:ext cx="690148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887292" y="2538809"/>
            <a:ext cx="1296558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98.36%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929063" y="2538809"/>
            <a:ext cx="1296558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98.44%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970833" y="2538809"/>
            <a:ext cx="1296558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98.42%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12604" y="2538809"/>
            <a:ext cx="1299733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98.43%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2346" y="3286125"/>
            <a:ext cx="690148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Neural Network (MLP)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887292" y="3286125"/>
            <a:ext cx="1296558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98.36%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929063" y="3286125"/>
            <a:ext cx="1296558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98.50%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970833" y="3286125"/>
            <a:ext cx="1296558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98.34%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12604" y="3286125"/>
            <a:ext cx="1299733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98.42%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42346" y="4301232"/>
            <a:ext cx="690148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887292" y="4301232"/>
            <a:ext cx="1296558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98.12%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2929063" y="4301232"/>
            <a:ext cx="1296558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97.95%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970833" y="4301232"/>
            <a:ext cx="1296558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98.47%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012604" y="4301232"/>
            <a:ext cx="1299733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98.21%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42346" y="5316339"/>
            <a:ext cx="690148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Naive Bayes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887292" y="5316339"/>
            <a:ext cx="1296558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94.81%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2929063" y="5316339"/>
            <a:ext cx="1296558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96.75%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3970833" y="5316339"/>
            <a:ext cx="1296558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93.18%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012604" y="5316339"/>
            <a:ext cx="1299733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94.93%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314719" y="1662410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Observation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6314719" y="2095202"/>
            <a:ext cx="5221851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Random Forest and Neural Network (MLP) achieved near-identical top performance at ~98.4% F1-score, significantly outperforming Naive Bayes. All four models exceeded 94% accuracy, validating the feature engineering approach.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314719" y="3347045"/>
            <a:ext cx="5221851" cy="1179612"/>
          </a:xfrm>
          <a:prstGeom prst="roundRect">
            <a:avLst>
              <a:gd name="adj" fmla="val 6204"/>
            </a:avLst>
          </a:prstGeom>
          <a:solidFill>
            <a:srgbClr val="EBE2E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942" y="3609181"/>
            <a:ext cx="217780" cy="174228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6880946" y="3535164"/>
            <a:ext cx="4481400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Random Forest and MLP are effectively tied — the deployment decision comes down to practical constraints, not raw accuracy.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95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Model Diagnostics &amp; Error Analysis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6268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Confusion Matrix Insights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2770584"/>
            <a:ext cx="2507394" cy="2675235"/>
          </a:xfrm>
          <a:prstGeom prst="roundRect">
            <a:avLst>
              <a:gd name="adj" fmla="val 3166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56832" y="2965946"/>
            <a:ext cx="211668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MLP — Lowest False Negatives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745508"/>
            <a:ext cx="211668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142 missed phishing emails — critical for security-first applications.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357875" y="2770584"/>
            <a:ext cx="2507394" cy="2675235"/>
          </a:xfrm>
          <a:prstGeom prst="roundRect">
            <a:avLst>
              <a:gd name="adj" fmla="val 3166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553232" y="2965946"/>
            <a:ext cx="211668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Random Forest — Lowest False Positives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3553232" y="4040783"/>
            <a:ext cx="211668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134 misclassified legitimate emails — best for minimizing user friction.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32776" y="226268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Top Feature Importance (Random Forest)</a:t>
            </a:r>
            <a:endParaRPr lang="en-US" sz="18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7377" y="2745184"/>
            <a:ext cx="2509179" cy="204003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72582" y="2770584"/>
            <a:ext cx="224397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Phishing / Action Signals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572582" y="3550146"/>
            <a:ext cx="224397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click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4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4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money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4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attached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strong indicators of malicious intent.</a:t>
            </a:r>
            <a:endParaRPr lang="en-US" sz="14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7391" y="2745184"/>
            <a:ext cx="2509179" cy="204003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292596" y="2770584"/>
            <a:ext cx="224397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Corpus-Specific Artefacts</a:t>
            </a:r>
            <a:endParaRPr lang="en-US" sz="1850" dirty="0"/>
          </a:p>
        </p:txBody>
      </p:sp>
      <p:sp>
        <p:nvSpPr>
          <p:cNvPr id="16" name="Text 12"/>
          <p:cNvSpPr/>
          <p:nvPr/>
        </p:nvSpPr>
        <p:spPr>
          <a:xfrm>
            <a:off x="9292596" y="3550146"/>
            <a:ext cx="224397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enron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4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university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4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mailing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4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opensuse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highlighting potential dataset bias to monitor.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35397"/>
            <a:ext cx="6296860" cy="1144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Deployment &amp; Practical Trade-offs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61475" y="2045791"/>
            <a:ext cx="6296860" cy="2683470"/>
          </a:xfrm>
          <a:prstGeom prst="roundRect">
            <a:avLst>
              <a:gd name="adj" fmla="val 2866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667825" y="2052141"/>
            <a:ext cx="6284160" cy="1335385"/>
          </a:xfrm>
          <a:custGeom>
            <a:avLst/>
            <a:gdLst/>
            <a:ahLst/>
            <a:cxnLst/>
            <a:rect l="l" t="t" r="r" b="b"/>
            <a:pathLst>
              <a:path w="6284160" h="1335385">
                <a:moveTo>
                  <a:pt x="64089" y="0"/>
                </a:moveTo>
                <a:lnTo>
                  <a:pt x="6220071" y="0"/>
                </a:lnTo>
                <a:arcTo wR="64089" hR="64091" stAng="16200000" swAng="5400000"/>
                <a:lnTo>
                  <a:pt x="6284160" y="1335385"/>
                </a:lnTo>
                <a:lnTo>
                  <a:pt x="0" y="1335385"/>
                </a:lnTo>
                <a:lnTo>
                  <a:pt x="0" y="64091"/>
                </a:lnTo>
                <a:arcTo wR="64089" hR="64091" stAng="10800000" swAng="5400000"/>
                <a:close/>
              </a:path>
            </a:pathLst>
          </a:custGeom>
          <a:solidFill>
            <a:srgbClr val="EBE2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50879" y="2235200"/>
            <a:ext cx="5918052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50879" y="2627610"/>
            <a:ext cx="5918052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offline performer — but serializes to </a:t>
            </a:r>
            <a:r>
              <a:rPr lang="en-US" sz="14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133 MB</a:t>
            </a: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exceeding GitHub limits without LFS.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67825" y="3387527"/>
            <a:ext cx="6284160" cy="1335385"/>
          </a:xfrm>
          <a:custGeom>
            <a:avLst/>
            <a:gdLst/>
            <a:ahLst/>
            <a:cxnLst/>
            <a:rect l="l" t="t" r="r" b="b"/>
            <a:pathLst>
              <a:path w="6284160" h="1335385">
                <a:moveTo>
                  <a:pt x="0" y="0"/>
                </a:moveTo>
                <a:lnTo>
                  <a:pt x="6284160" y="0"/>
                </a:lnTo>
                <a:lnTo>
                  <a:pt x="6284160" y="1271295"/>
                </a:lnTo>
                <a:arcTo wR="64089" hR="64091" stAng="0" swAng="5400000"/>
                <a:lnTo>
                  <a:pt x="64089" y="1335385"/>
                </a:lnTo>
                <a:arcTo wR="64089" hR="64091" stAng="5400000" swAng="5400000"/>
                <a:lnTo>
                  <a:pt x="0" y="0"/>
                </a:lnTo>
                <a:close/>
              </a:path>
            </a:pathLst>
          </a:custGeom>
          <a:solidFill>
            <a:srgbClr val="EBE2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667825" y="3387527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50879" y="3570585"/>
            <a:ext cx="5918052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MLP Neural Network </a:t>
            </a:r>
            <a:r>
              <a:rPr lang="en-US" sz="18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Selected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50879" y="3962995"/>
            <a:ext cx="5918052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Virtually identical accuracy — serializes to only </a:t>
            </a:r>
            <a:r>
              <a:rPr lang="en-US" sz="14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3.85 MB</a:t>
            </a: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fully compatible with Streamlit Cloud.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61475" y="4928791"/>
            <a:ext cx="6296860" cy="1293713"/>
          </a:xfrm>
          <a:prstGeom prst="roundRect">
            <a:avLst>
              <a:gd name="adj" fmla="val 5945"/>
            </a:avLst>
          </a:prstGeom>
          <a:solidFill>
            <a:srgbClr val="EBE2E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29" y="5187851"/>
            <a:ext cx="228793" cy="18305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56376" y="5151834"/>
            <a:ext cx="551890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Key Takeaway: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Practical deployment demands balancing raw accuracy against storage, memory, and hosting constraints. The MLP's 34× smaller footprint made it the clear production choice.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7018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Real-World Testing &amp; Limitations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3331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Live Testing Results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2741216"/>
            <a:ext cx="2507394" cy="2733973"/>
          </a:xfrm>
          <a:prstGeom prst="roundRect">
            <a:avLst>
              <a:gd name="adj" fmla="val 3166"/>
            </a:avLst>
          </a:prstGeom>
          <a:solidFill>
            <a:srgbClr val="FFFCFA"/>
          </a:solidFill>
          <a:ln w="25399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75881" y="2955627"/>
            <a:ext cx="2078581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Success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75881" y="3446264"/>
            <a:ext cx="2078581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Correctly detected synthetic and complex phishing emails with </a:t>
            </a: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over 99% confidence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357875" y="2741216"/>
            <a:ext cx="2507394" cy="2733973"/>
          </a:xfrm>
          <a:prstGeom prst="roundRect">
            <a:avLst>
              <a:gd name="adj" fmla="val 3166"/>
            </a:avLst>
          </a:prstGeom>
          <a:solidFill>
            <a:srgbClr val="FFFCFA"/>
          </a:solidFill>
          <a:ln w="25399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572282" y="2955627"/>
            <a:ext cx="2078581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False Positive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3572282" y="3446264"/>
            <a:ext cx="207858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legitimate transactional bank email was flagged at </a:t>
            </a: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62.4% confidence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urgent phrasing mimics phishing patterns.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32776" y="223331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Limitations Identified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32776" y="2717602"/>
            <a:ext cx="5203794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Text-only detection struggles when legitimate transactional mail uses urgent phrasing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Absence of true header and sender-domain metadata limits broader context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Corpus shortcut risks — e.g., reliance on Enron-specific vocabulary as a signal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184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Conclusion &amp; Future Work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1497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Achievements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799259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Delivered an operational end-to-end NLP cybersecurity pipeline with </a:t>
            </a: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&gt;98% accuracy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live cloud deployment — demonstrating that ML-driven phishing detection is both effective and deployable at scale.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19794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Project Links</a:t>
            </a:r>
            <a:endParaRPr lang="en-US" sz="1850" dirty="0"/>
          </a:p>
        </p:txBody>
      </p:sp>
      <p:pic>
        <p:nvPicPr>
          <p:cNvPr id="6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705846"/>
            <a:ext cx="1606411" cy="519807"/>
          </a:xfrm>
          <a:prstGeom prst="rect">
            <a:avLst/>
          </a:prstGeom>
        </p:spPr>
      </p:pic>
      <p:pic>
        <p:nvPicPr>
          <p:cNvPr id="7" name="Image 1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2339" y="4705846"/>
            <a:ext cx="1511957" cy="5198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32776" y="231497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Roadmap Ahead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03616" y="2832298"/>
            <a:ext cx="283461" cy="2834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47024" y="2822873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true sender-domain authentication (SPF/DKIM) and URL parsing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03616" y="3815159"/>
            <a:ext cx="283461" cy="2834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947024" y="3805734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Explore Transformer architectures (e.g., BERT) for contextual embeddings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03616" y="4798020"/>
            <a:ext cx="283461" cy="2834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947024" y="4788595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Retrain on broader transactional datasets to reduce false positives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775</Words>
  <Application>Microsoft Office PowerPoint</Application>
  <PresentationFormat>Widescreen</PresentationFormat>
  <Paragraphs>114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Open Sans</vt:lpstr>
      <vt:lpstr>Arial</vt:lpstr>
      <vt:lpstr>Twemoji Mozilla</vt:lpstr>
      <vt:lpstr>Open Sans Bold</vt:lpstr>
      <vt:lpstr>Crimson Pro Light</vt:lpstr>
      <vt:lpstr>Consolas</vt:lpstr>
      <vt:lpstr>Crimson Pro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Shruthi Srinivasan</dc:creator>
  <cp:lastModifiedBy>Shruthi Srinivasan</cp:lastModifiedBy>
  <cp:revision>1</cp:revision>
  <dcterms:created xsi:type="dcterms:W3CDTF">2026-08-01T05:07:17Z</dcterms:created>
  <dcterms:modified xsi:type="dcterms:W3CDTF">2026-08-01T05:13:47Z</dcterms:modified>
</cp:coreProperties>
</file>